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DC6A7A-CEF4-487E-969C-1E0B1B882FCD}">
  <a:tblStyle styleId="{6EDC6A7A-CEF4-487E-969C-1E0B1B882FC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c7bd0de84_0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g3ec7bd0de84_0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ec7bd0de84_0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c7bd0de84_0_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g3ec7bd0de84_0_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ec7bd0de84_0_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c7bd0de84_0_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g3ec7bd0de84_0_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ec7bd0de84_0_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c7bd0de84_0_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g3ec7bd0de84_0_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ec7bd0de84_0_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Част 1 — Сваляне и трансформация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640080" y="246888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RAG асистент за българско счетоводно и данъчно законодателство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640080" y="3383280"/>
            <a:ext cx="216466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Димитър Иванов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640080" y="3840480"/>
            <a:ext cx="257790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Факултетен номер: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7MI3400875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Задача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Преобразуване на действащата нормативна уредба от lex.bg в структуриран корпус, готов за индексиране в следващия етап.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640080" y="228600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Основни стъпки: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822960" y="2697480"/>
            <a:ext cx="76809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Сваляне на нормативните актове от lex.bg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Парсване на йерархията (част → глава → раздел → член → алинея)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Нормализация на текста (NFC, конвертиране от windows-1251)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Извеждане на chunks.jsonl с пълни метаданни за всеки чънк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Проверка за качество на данните (празни, дубликати, отменени)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Резултат — корпус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" name="Google Shape;31;p5"/>
          <p:cNvGraphicFramePr/>
          <p:nvPr/>
        </p:nvGraphicFramePr>
        <p:xfrm>
          <a:off x="64008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{6EDC6A7A-CEF4-487E-969C-1E0B1B882FCD}</a:tableStyleId>
              </a:tblPr>
              <a:tblGrid>
                <a:gridCol w="4937750"/>
                <a:gridCol w="1463050"/>
                <a:gridCol w="14630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Закон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Чънкове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Членове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КСО — Кодекс за социално осигуряване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2 469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ЗДДС — Закон за данък върху добавената стойност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1 455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ЗКПО — Закон за корпоративното подоходно облагане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1 282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ЗДДФЛ — Закон за данъците върху доходите на физическите лица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ЗС — Закон за счетоводството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279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Общо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5 897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1 388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" name="Google Shape;32;p5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Парсване на 5 закона  •  пълни метаданни за всеки чънк  •  готов за embedding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Изход — chunks.jsonl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Всеки ред е един чънк със следните полета: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822960" y="1737360"/>
            <a:ext cx="76809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— уникален идентификатор (напр. ZKPO_124_al2)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— нормализиран текст за embedding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law_code, law_short, law_title, law_url</a:t>
            </a: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— за цитиране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part, chapter, section, article, paragraph</a:t>
            </a: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— за филтриране и rerank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is_repealed</a:t>
            </a: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— флаг за отменена разпоредба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char_count, fetched_at</a:t>
            </a: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— спомагателни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Получава се готов структуриран корпус — без нужда от ново парсване или нормализация.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Бъдеща стъпка — препратки между чънкове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Към всеки чънк ще се добави поле refs_out — списък с препратките към други нормативни актове, които текстът съдържа.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822960" y="256032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Текст: </a:t>
            </a:r>
            <a:r>
              <a:rPr i="1"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„съгласно чл. 26 от ЗКПО или чл. 6 от ЗДДС..."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refs_out: </a:t>
            </a: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 „чл:26_ЗКПО_id", .. 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640080" y="35661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Полза: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822960" y="3931920"/>
            <a:ext cx="7680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Граф на цитиранията — полезен за rerank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Проверка дали LLM-ът цитира реално съществуващи членове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Част 2 — Векторизация и RAG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8"/>
          <p:cNvSpPr/>
          <p:nvPr/>
        </p:nvSpPr>
        <p:spPr>
          <a:xfrm>
            <a:off x="640080" y="246888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RAG асистент за българско счетоводно и данъчно законодателство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640080" y="3383280"/>
            <a:ext cx="216466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Александр Комаров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640080" y="3840480"/>
            <a:ext cx="257790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Факултетен номер: </a:t>
            </a:r>
            <a:r>
              <a:rPr b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0MI0800141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От текст през вектори към знание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9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Целта на тази част е да превърне форматирана начална информация в система, която да може да отговаря на въпроси на нишови потребителски въпроси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640080" y="228600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Основни стъпки: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9"/>
          <p:cNvSpPr/>
          <p:nvPr/>
        </p:nvSpPr>
        <p:spPr>
          <a:xfrm>
            <a:off x="822960" y="2697480"/>
            <a:ext cx="76809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Прекарване на данните през embedding модел за семантично кодиране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Подготвяне на база знания във формат на вектори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Задаване на поведение на агента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Обработка на въпрос на потребителя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Технологичен стек: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0"/>
          <p:cNvSpPr/>
          <p:nvPr/>
        </p:nvSpPr>
        <p:spPr>
          <a:xfrm>
            <a:off x="640080" y="1428750"/>
            <a:ext cx="76809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Multilingual-E5</a:t>
            </a:r>
            <a:endParaRPr/>
          </a:p>
          <a:p>
            <a:pPr indent="-285750" lvl="1" marL="7429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Локален модел на Microsoft за embeddings</a:t>
            </a:r>
            <a:endParaRPr/>
          </a:p>
          <a:p>
            <a:pPr indent="-171450" lvl="0" marL="2857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FAISS</a:t>
            </a:r>
            <a:endParaRPr/>
          </a:p>
          <a:p>
            <a:pPr indent="-285750" lvl="1" marL="7429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Библиотека на Facebook (Meta) за векторно търсене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7429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Gemini 2.5</a:t>
            </a:r>
            <a:endParaRPr/>
          </a:p>
          <a:p>
            <a:pPr indent="-285750" lvl="1" marL="7429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Безплатна версия на добър за Български LLM  за генериране на отговор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RAG Pipeline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1"/>
          <p:cNvSpPr/>
          <p:nvPr/>
        </p:nvSpPr>
        <p:spPr>
          <a:xfrm>
            <a:off x="640080" y="1428750"/>
            <a:ext cx="76809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Кодираме въпроса (Query)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Извличаме на Top-K съвпадения за контекст (Retrieval)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Подаваме цялата информация заедно със системния промпт на Gemini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Връщаме положителен отговор с цитиране на закон и член или отговор за липсва на подходящ контекст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Бъдещи подобрения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2"/>
          <p:cNvSpPr/>
          <p:nvPr/>
        </p:nvSpPr>
        <p:spPr>
          <a:xfrm>
            <a:off x="640080" y="1428750"/>
            <a:ext cx="76809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Hybrid Search – Комбиниране на векторно търсене с ключови думи за по добро откриване на релевантни документи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Reranking – Допълнителен модел за пренареждане на резултати  и откриване на нюанси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 Expansion – разширяване на потребителския въпрос преди търсене (За по-сложни юредически казуси свързани с множество закони)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>
            <a:off x="640080" y="1463040"/>
            <a:ext cx="786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Част </a:t>
            </a: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Chat App със OpenAI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640080" y="2468880"/>
            <a:ext cx="786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RAG асистент за българско счетоводно и данъчно законодателство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640080" y="3383280"/>
            <a:ext cx="216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Андон Мицов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640080" y="3840480"/>
            <a:ext cx="2577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Факултетен номер: </a:t>
            </a:r>
            <a:r>
              <a:rPr b="1" lang="en-US"/>
              <a:t>26376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640080" y="457200"/>
            <a:ext cx="786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Генериране и Оценяване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640080" y="1280160"/>
            <a:ext cx="7863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i="1" lang="en-US" sz="1500">
                <a:latin typeface="Calibri"/>
                <a:ea typeface="Calibri"/>
                <a:cs typeface="Calibri"/>
                <a:sym typeface="Calibri"/>
              </a:rPr>
              <a:t>Тука искаме да оценим как се представя модела с добавения контекст от RAG. За целта имаме dataset с 30 въпроса, който да използваме и chat application със streamlit.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40080" y="2286000"/>
            <a:ext cx="786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Основни стъпки: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822960" y="2697480"/>
            <a:ext cx="7680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Създаване на множество от въпроси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Създаване на системен prompt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Имплементиране на chat app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Оценяване на резултатите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640080" y="457200"/>
            <a:ext cx="786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Chat APP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640080" y="1428750"/>
            <a:ext cx="7680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Създадено с помощтта нa Claude Code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Върви във streamlit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Просто chat приложение, чиито backend се свързва с GPT-5.4-mini като LLM.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Първо се дърпат данните и се добавят като контекст към prompt-a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Връща отговора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Има опция за експортирането на историята като CSV, за по-лесно оценяване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/>
          <p:nvPr/>
        </p:nvSpPr>
        <p:spPr>
          <a:xfrm>
            <a:off x="640080" y="457200"/>
            <a:ext cx="786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Системен промпт и dataset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640080" y="1428750"/>
            <a:ext cx="7680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Стремим се за добре дефиниран промпт, който ограничава модела, но също така дава насоки за точно това, което искаме. Примерно, не искаме да сравнява с други законодателства или да се опитва да измисли казуси.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- генерирани въпроси миксирани с наши.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