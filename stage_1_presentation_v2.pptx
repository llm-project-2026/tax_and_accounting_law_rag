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8" r:id="rId6"/>
    <p:sldId id="269" r:id="rId7"/>
    <p:sldId id="267" r:id="rId8"/>
    <p:sldId id="260" r:id="rId9"/>
    <p:sldId id="261" r:id="rId10"/>
    <p:sldId id="262" r:id="rId11"/>
    <p:sldId id="263" r:id="rId12"/>
    <p:sldId id="265" r:id="rId13"/>
    <p:sldId id="266" r:id="rId14"/>
    <p:sldId id="26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6997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06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946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3740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685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4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bg-BG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 </a:t>
            </a: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Сваляне и трансформация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асистент за българско счетоводно и данъчно законодателство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2164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Димитър Иванов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25779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Факултетен номер: </a:t>
            </a:r>
            <a:r>
              <a:rPr lang="en-US" sz="1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7MI3400875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Преобразуване на действащата нормативна уредба от lex.bg в структуриран корпус, готов за индексиране в следващия етап.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стъпки: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Сваляне на нормативните актове от lex.bg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Парсване на йерархията (част → глава → раздел → член → алинея)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на текста (NFC, конвертиране от windows-1251)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Извеждане на chunks.jsonl с пълни метаданни за всеки чънк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за качество на данните (празни, дубликати, отменени)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Резултат — корпус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2560320"/>
        </p:xfrm>
        <a:graphic>
          <a:graphicData uri="http://schemas.openxmlformats.org/drawingml/2006/table">
            <a:tbl>
              <a:tblPr/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Закон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Чънкове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Членове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КСО — Кодекс за социално осигуряване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2 469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ЗДДС — Закон за данък върху добавената стойност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ЗКПО — Закон за корпоративното подоходно облагане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ЗДДФЛ — Закон за данъците върху доходите на физическите лица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ЗС — Закон за счетоводството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5 897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 1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Парсване на 5 закона  •  пълни метаданни за всеки чънк  •  готов за embedding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 — chunks.jsonl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Всеки ред е един чънк със следните полета: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680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уникален идентификатор (напр. ZKPO_124_al2)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нормализиран текст за embedding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law_code, law_short, law_title, law_url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 цитиране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part, chapter, section, article, paragraph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 филтриране и rerank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is_repealed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флаг за отменена разпоредба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char_count, fetched_at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спомагателни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bg-BG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се </a:t>
            </a:r>
            <a:r>
              <a:rPr lang="en-US" sz="1300" i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en-US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структуриран корпус — без нужда от ново парсване или нормализация.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C213357-A9A2-4E37-A147-F01E680EB2F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Отчет за качество </a:t>
            </a:r>
            <a:r>
              <a:rPr lang="en-US" sz="240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даннит</a:t>
            </a:r>
            <a:r>
              <a:rPr lang="bg-BG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18B9A4-8EA9-416C-A022-5FE0C4505805}"/>
              </a:ext>
            </a:extLst>
          </p:cNvPr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Корпус: 5 закона  •  5 897 чънка  •  1 388 уникални члена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718BB4-9408-4B3C-95E0-E54A61851F7A}"/>
              </a:ext>
            </a:extLst>
          </p:cNvPr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Разбивка по закон</a:t>
            </a:r>
            <a:endParaRPr lang="en-US" sz="130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CA96E95C-F558-48D9-B559-C8A40D2AE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04839"/>
              </p:ext>
            </p:extLst>
          </p:nvPr>
        </p:nvGraphicFramePr>
        <p:xfrm>
          <a:off x="457200" y="1554480"/>
          <a:ext cx="4572000" cy="175564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Чънкове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Членове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КСО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2 469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ЗДДС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ЗКПО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ЗДДФЛ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>
            <a:extLst>
              <a:ext uri="{FF2B5EF4-FFF2-40B4-BE49-F238E27FC236}">
                <a16:creationId xmlns:a16="http://schemas.microsoft.com/office/drawing/2014/main" id="{3BFBC621-2621-4107-8136-BAFFE70456E5}"/>
              </a:ext>
            </a:extLst>
          </p:cNvPr>
          <p:cNvSpPr/>
          <p:nvPr/>
        </p:nvSpPr>
        <p:spPr>
          <a:xfrm>
            <a:off x="5303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Намерени проблеми</a:t>
            </a:r>
            <a:endParaRPr lang="en-US" sz="13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45FAC8F-F1B9-45E6-A78E-C95A4BB8F16B}"/>
              </a:ext>
            </a:extLst>
          </p:cNvPr>
          <p:cNvSpPr/>
          <p:nvPr/>
        </p:nvSpPr>
        <p:spPr>
          <a:xfrm>
            <a:off x="5303520" y="155448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Празни чънкове: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(само исторически бележки, всички в КСО)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Дубликати: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чънка в 145 групи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(повтарящи се „(Отм.)" / „(Изм.)" бележки)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Отменени разпоредби: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(маркирани с is_repealed=true)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Дълги чънкове (≥2000ch):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(кандидати за вторично разделение)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36BC3AA-94AD-4A85-923B-739FBAB57AF7}"/>
              </a:ext>
            </a:extLst>
          </p:cNvPr>
          <p:cNvSpPr/>
          <p:nvPr/>
        </p:nvSpPr>
        <p:spPr>
          <a:xfrm>
            <a:off x="45720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Дължина на чънк (символи)</a:t>
            </a:r>
            <a:endParaRPr lang="en-US" sz="13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3ACAE5E-9B23-41EB-976E-D28AF420E9C9}"/>
              </a:ext>
            </a:extLst>
          </p:cNvPr>
          <p:cNvSpPr/>
          <p:nvPr/>
        </p:nvSpPr>
        <p:spPr>
          <a:xfrm>
            <a:off x="4572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27  •  p25 153  •  медиана 273  •  p75 452  •  p95 1 035  •  max 8 380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78486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1CBAF1-F084-49CA-863E-5AF838002F3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за качество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D3B2EFD-BD48-42E6-BD23-9195B04583A3}"/>
              </a:ext>
            </a:extLst>
          </p:cNvPr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Скриптът ingest.quality валидира chunks.jsonl по 6 критерия:</a:t>
            </a:r>
            <a:endParaRPr lang="en-US" sz="1200" dirty="0"/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6A6E2196-E6AE-49B5-8CD6-B00C559B9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5222613"/>
              </p:ext>
            </p:extLst>
          </p:nvPr>
        </p:nvGraphicFramePr>
        <p:xfrm>
          <a:off x="457200" y="1188720"/>
          <a:ext cx="8229600" cy="3200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Защо има значение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се измерва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Празни / къси чънкове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Шум за embedding модела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char_count &lt; 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Дубликати на текст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Изкривяват ранкирането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SHA1 на нормализиран текст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Отменени разпоредби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трябва да се цитират като действащи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Маркер „(Отм." / „(отм." в текста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Дълги чънкове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Може да не влязат в context window-а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char_count ≥ 2000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Липсваща йерархия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Загубен контекст (част / глава / раздел)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Празни метаданни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Дупки в номерата на членовете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Парсването е пропуснало членове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Множество от article номера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08FD34F3-CA3B-458F-8109-5DBFC8C44340}"/>
              </a:ext>
            </a:extLst>
          </p:cNvPr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Изход: reports/quality.json (машинно-четим) + reports/L6_quality.md (отчет)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277907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2B93DE-FAA2-4895-A022-89923B73D6E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Типове на намерените </a:t>
            </a:r>
            <a:r>
              <a:rPr lang="en-US" sz="240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проблеми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92F64E-5585-4FA2-AA42-C85DF18D9CC6}"/>
              </a:ext>
            </a:extLst>
          </p:cNvPr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Празни чънкове (129 — всички в КСО)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98857B-6140-4A6B-972C-2CC80FA61082}"/>
              </a:ext>
            </a:extLst>
          </p:cNvPr>
          <p:cNvSpPr/>
          <p:nvPr/>
        </p:nvSpPr>
        <p:spPr>
          <a:xfrm>
            <a:off x="548640" y="11887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Членове само с историческа бележка, без последващ текст (напр. </a:t>
            </a: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KSO_117а: „(Нов - ДВ, бр. 45 от 2002 г.)"</a:t>
            </a: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Не е грешка на парсера — лекс.bg ги съдържа така. Действие: маркират се и могат да се пропуснат при индексиране.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71C4E2D-03FF-4AAC-90DE-0C94B2DA3951}"/>
              </a:ext>
            </a:extLst>
          </p:cNvPr>
          <p:cNvSpPr/>
          <p:nvPr/>
        </p:nvSpPr>
        <p:spPr>
          <a:xfrm>
            <a:off x="457200" y="1874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Дубликати (678 чънка в 145 групи)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A5EE776-014A-4ED9-AE21-4BE598EB01C1}"/>
              </a:ext>
            </a:extLst>
          </p:cNvPr>
          <p:cNvSpPr/>
          <p:nvPr/>
        </p:nvSpPr>
        <p:spPr>
          <a:xfrm>
            <a:off x="731520" y="2148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Идентична фраза „(Отм. - ДВ...)" в различни членове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Същият „(Изм. - ДВ...)" маркер като самостоятелен ред в десетки членове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Цитирани определения между ЗДДФЛ и ЗКПО — легитимно припокриване между два закона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BBE47F-EFC3-4746-9C88-652253A2EE92}"/>
              </a:ext>
            </a:extLst>
          </p:cNvPr>
          <p:cNvSpPr/>
          <p:nvPr/>
        </p:nvSpPr>
        <p:spPr>
          <a:xfrm>
            <a:off x="548640" y="30632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Действие: при индексиране — слети по сигнатура, една референция към местата, които ги ползват.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868B91D-BE83-41A6-86E6-FC0BD1EA2FBD}"/>
              </a:ext>
            </a:extLst>
          </p:cNvPr>
          <p:cNvSpPr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Дълги чънкове (72 ≥ 2000 символа)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4468849-A930-458A-9AEA-DBB47554CAA2}"/>
              </a:ext>
            </a:extLst>
          </p:cNvPr>
          <p:cNvSpPr/>
          <p:nvPr/>
        </p:nvSpPr>
        <p:spPr>
          <a:xfrm>
            <a:off x="548640" y="3703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Дълги алинеи в КСО и ЗКПО (определения с много точки). 2000 символа ≈ 540 токена при XLM-R — близо до 512-токенов лимит на embedding модели. Кандидати за вторично разделение по точка/буква (отговорност на Студент 2).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790330D-96F5-44E4-B5D1-7EBBD2B690F7}"/>
              </a:ext>
            </a:extLst>
          </p:cNvPr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Липсваща йерархия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323037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Бъдеща стъпка — препратки между чънкове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Към всеки чънк ще се добави поле refs_out — списък с препратките към други нормативни актове, които текстът съдържа.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Текст: </a:t>
            </a:r>
            <a:r>
              <a:rPr lang="en-US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„съгласно чл. 26 от ЗКПО или чл. 6 от ЗДДС..."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refs_out: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„чл:26_ЗКПО_id", .. 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Полза: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цитиранията — полезен за rerank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дали LLM-ът цитира реално съществуващи членове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bg-BG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 2</a:t>
            </a: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bg-BG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Векторизация</a:t>
            </a: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RAG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асистент за българско счетоводно и данъчно законодателство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2164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bg-BG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Александр Комаров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25779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Факултетен номер: </a:t>
            </a:r>
            <a:r>
              <a:rPr lang="bg-BG" sz="1400" b="1" dirty="0">
                <a:solidFill>
                  <a:srgbClr val="000000"/>
                </a:solidFill>
                <a:latin typeface="Arial" panose="020B0604020202020204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GB" sz="1400" b="1" dirty="0">
                <a:solidFill>
                  <a:srgbClr val="000000"/>
                </a:solidFill>
                <a:latin typeface="Arial" panose="020B0604020202020204" pitchFamily="34" charset="0"/>
                <a:ea typeface="Calibri" pitchFamily="34" charset="-122"/>
                <a:cs typeface="Calibri" pitchFamily="34" charset="-120"/>
              </a:rPr>
              <a:t>MI0800141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02389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текст през вектори към знание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bg-BG" sz="15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Целта на тази част е да превърне форматирана начална информация в система, която да може да отговаря на въпроси на нишови потребителски въпроси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стъпки: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Прекарване на данните през </a:t>
            </a:r>
            <a:r>
              <a:rPr lang="en-GB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модел за семантично кодиране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Подготвяне на база знания във формат на вектори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Задаване на поведение на агента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на въпрос на потребителя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37750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Технологичен стек: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Multilingual-E5</a:t>
            </a:r>
          </a:p>
          <a:p>
            <a:pPr marL="742950" lvl="1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bg-BG" dirty="0"/>
              <a:t>Локален модел на </a:t>
            </a:r>
            <a:r>
              <a:rPr lang="en-GB" dirty="0"/>
              <a:t>Microsoft</a:t>
            </a:r>
            <a:r>
              <a:rPr lang="bg-BG" dirty="0"/>
              <a:t> за </a:t>
            </a:r>
            <a:r>
              <a:rPr lang="en-GB" dirty="0"/>
              <a:t>embeddings</a:t>
            </a:r>
          </a:p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endParaRPr lang="bg-BG" dirty="0"/>
          </a:p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FAISS</a:t>
            </a:r>
          </a:p>
          <a:p>
            <a:pPr marL="742950" lvl="1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bg-BG" dirty="0"/>
              <a:t>Библиотека на </a:t>
            </a:r>
            <a:r>
              <a:rPr lang="en-GB" dirty="0"/>
              <a:t>Facebook (Meta) </a:t>
            </a:r>
            <a:r>
              <a:rPr lang="bg-BG" dirty="0"/>
              <a:t>за векторно търсене</a:t>
            </a:r>
            <a:endParaRPr lang="en-GB" dirty="0"/>
          </a:p>
          <a:p>
            <a:pPr marL="742950" lvl="1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Gemini 2.5</a:t>
            </a:r>
          </a:p>
          <a:p>
            <a:pPr marL="742950" lvl="1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bg-BG" dirty="0"/>
              <a:t>Безплатна версия на добър за Български </a:t>
            </a:r>
            <a:r>
              <a:rPr lang="en-GB" dirty="0"/>
              <a:t>LLM </a:t>
            </a:r>
            <a:r>
              <a:rPr lang="bg-BG" dirty="0"/>
              <a:t> за генериране на отговор</a:t>
            </a:r>
            <a:endParaRPr lang="en-GB" dirty="0"/>
          </a:p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72776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dirty="0"/>
              <a:t>Кодираме въпроса (</a:t>
            </a:r>
            <a:r>
              <a:rPr lang="en-GB" dirty="0"/>
              <a:t>Query)</a:t>
            </a:r>
            <a:endParaRPr lang="bg-BG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dirty="0"/>
              <a:t>Извличаме на </a:t>
            </a:r>
            <a:r>
              <a:rPr lang="en-GB" dirty="0"/>
              <a:t>Top-K</a:t>
            </a:r>
            <a:r>
              <a:rPr lang="bg-BG" dirty="0"/>
              <a:t> съвпадения за контекст (</a:t>
            </a:r>
            <a:r>
              <a:rPr lang="en-GB" dirty="0"/>
              <a:t>Retrieval)</a:t>
            </a:r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dirty="0"/>
              <a:t>Подаваме цялата информация заедно със системния промпт на </a:t>
            </a:r>
            <a:r>
              <a:rPr lang="en-GB" dirty="0"/>
              <a:t>Gemini</a:t>
            </a:r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dirty="0"/>
              <a:t>Връщаме положителен отговор с цитиране на закон и член или отговор за липсва на подходящ контекст</a:t>
            </a:r>
          </a:p>
        </p:txBody>
      </p:sp>
    </p:spTree>
    <p:extLst>
      <p:ext uri="{BB962C8B-B14F-4D97-AF65-F5344CB8AC3E}">
        <p14:creationId xmlns:p14="http://schemas.microsoft.com/office/powerpoint/2010/main" val="322112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Бъдещи подобрения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Hybrid Search – </a:t>
            </a:r>
            <a:r>
              <a:rPr lang="bg-BG" dirty="0"/>
              <a:t>Комбиниране на векторно търсене с ключови думи за по добро откриване на релевантни документи</a:t>
            </a:r>
          </a:p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Reranking – </a:t>
            </a:r>
            <a:r>
              <a:rPr lang="bg-BG" dirty="0"/>
              <a:t>Допълнителен модел за пренареждане на резултати  и откриване на нюанси</a:t>
            </a:r>
            <a:endParaRPr lang="en-GB" dirty="0"/>
          </a:p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Query Expansion – </a:t>
            </a:r>
            <a:r>
              <a:rPr lang="bg-BG" dirty="0"/>
              <a:t>разширяване на потребителския въпрос преди търсене (За по-сложни юредически казуси свързани с множество </a:t>
            </a:r>
            <a:r>
              <a:rPr lang="bg-BG"/>
              <a:t>закони)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05919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0697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1014</Words>
  <Application>Microsoft Office PowerPoint</Application>
  <PresentationFormat>On-screen Show (16:9)</PresentationFormat>
  <Paragraphs>167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1 — Сваляне и трансформация</dc:title>
  <dc:subject>PptxGenJS Presentation</dc:subject>
  <dc:creator>Димитър Иванов</dc:creator>
  <cp:lastModifiedBy>Dimitar Ivanov</cp:lastModifiedBy>
  <cp:revision>7</cp:revision>
  <dcterms:created xsi:type="dcterms:W3CDTF">2026-06-16T21:17:01Z</dcterms:created>
  <dcterms:modified xsi:type="dcterms:W3CDTF">2026-06-17T07:39:36Z</dcterms:modified>
</cp:coreProperties>
</file>