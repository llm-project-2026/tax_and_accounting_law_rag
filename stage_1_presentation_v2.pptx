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4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9" d="100"/>
          <a:sy n="149" d="100"/>
        </p:scale>
        <p:origin x="50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6997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5065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9465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3740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6852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841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bg-BG" sz="3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 </a:t>
            </a:r>
            <a:r>
              <a:rPr lang="en-US" sz="3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Сваляне и трансформация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2468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асистент за българско счетоводно и данъчно законодателство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2164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Димитър Иванов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840480"/>
            <a:ext cx="25779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Факултетен номер: </a:t>
            </a:r>
            <a:r>
              <a:rPr lang="en-US" sz="1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7MI3400875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Преобразуване на действащата нормативна уредба от lex.bg в структуриран корпус, готов за индексиране в следващия етап.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Основни стъпки: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7680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Сваляне на нормативните актове от lex.bg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Парсване на йерархията (част → глава → раздел → член → алинея)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Нормализация на текста (NFC, конвертиране от windows-1251)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Извеждане на chunks.jsonl с пълни метаданни за всеки чънк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за качество на данните (празни, дубликати, отменени)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Резултат — корпус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7863840" cy="2560320"/>
        </p:xfrm>
        <a:graphic>
          <a:graphicData uri="http://schemas.openxmlformats.org/drawingml/2006/table">
            <a:tbl>
              <a:tblPr/>
              <a:tblGrid>
                <a:gridCol w="4937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Закон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Чънкове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Членове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КСО — Кодекс за социално осигуряване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2 469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ЗДДС — Закон за данък върху добавената стойност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1 455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ЗКПО — Закон за корпоративното подоходно облагане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ЗДДФЛ — Закон за данъците върху доходите на физическите лица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ЗС — Закон за счетоводството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Общо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5 897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1 388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 1"/>
          <p:cNvSpPr/>
          <p:nvPr/>
        </p:nvSpPr>
        <p:spPr>
          <a:xfrm>
            <a:off x="640080" y="4572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Парсване на 5 закона  •  пълни метаданни за всеки чънк  •  готов за embedding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Изход — chunks.jsonl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Всеки ред е един чънк със следните полета: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7680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уникален идентификатор (напр. ZKPO_124_al2)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нормализиран текст за embedding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law_code, law_short, law_title, law_url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за цитиране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part, chapter, section, article, paragraph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за филтриране и rerank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is_repealed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флаг за отменена разпоредба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char_count, fetched_at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спомагателни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43891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bg-BG" sz="13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Получава се </a:t>
            </a:r>
            <a:r>
              <a:rPr lang="en-US" sz="1300" i="1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</a:t>
            </a:r>
            <a:r>
              <a:rPr lang="en-US" sz="13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структуриран корпус — без нужда от ново парсване или нормализация.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Бъдеща стъпка — препратки между чънкове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Към всеки чънк ще се добави поле refs_out — списък с препратките към други нормативни актове, които текстът съдържа.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5603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Текст: </a:t>
            </a:r>
            <a:r>
              <a:rPr lang="en-US" sz="13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„съгласно чл. 26 от ЗКПО или чл. 6 от ЗДДС..."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refs_out: 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„чл:26_ЗКПО_id", .. 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5661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Полза: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393192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на цитиранията — полезен за rerank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дали LLM-ът цитира реално съществуващи членове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bg-BG" sz="3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 2</a:t>
            </a:r>
            <a:r>
              <a:rPr lang="en-US" sz="3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</a:t>
            </a:r>
            <a:r>
              <a:rPr lang="bg-BG" sz="3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Векторизация</a:t>
            </a:r>
            <a:r>
              <a:rPr lang="en-US" sz="3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RAG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2468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асистент за българско счетоводно и данъчно законодателство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2164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bg-BG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Александр Комаров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840480"/>
            <a:ext cx="25779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Факултетен номер: </a:t>
            </a:r>
            <a:r>
              <a:rPr lang="bg-BG" sz="1400" b="1" dirty="0">
                <a:solidFill>
                  <a:srgbClr val="000000"/>
                </a:solidFill>
                <a:latin typeface="Arial" panose="020B0604020202020204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en-GB" sz="1400" b="1" dirty="0">
                <a:solidFill>
                  <a:srgbClr val="000000"/>
                </a:solidFill>
                <a:latin typeface="Arial" panose="020B0604020202020204" pitchFamily="34" charset="0"/>
                <a:ea typeface="Calibri" pitchFamily="34" charset="-122"/>
                <a:cs typeface="Calibri" pitchFamily="34" charset="-120"/>
              </a:rPr>
              <a:t>MI0800141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202389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текст през вектори към знание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bg-BG" sz="15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Целта на тази част е да превърне форматирана начална информация в система, която да може да отговаря на въпроси на нишови потребителски въпроси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Основни стъпки: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7680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bg-BG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Прекарване на данните през </a:t>
            </a:r>
            <a:r>
              <a:rPr lang="en-GB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r>
              <a:rPr lang="bg-BG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модел за семантично кодиране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bg-BG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Подготвяне на база знания във формат на вектори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bg-BG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Задаване на поведение на агента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bg-BG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Обработка на въпрос на потребителя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837750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Технологичен стек: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28750"/>
            <a:ext cx="7680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Multilingual-E5</a:t>
            </a:r>
          </a:p>
          <a:p>
            <a:pPr marL="742950" lvl="1" indent="-28575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bg-BG" dirty="0"/>
              <a:t>Локален модел на </a:t>
            </a:r>
            <a:r>
              <a:rPr lang="en-GB" dirty="0"/>
              <a:t>Microsoft</a:t>
            </a:r>
            <a:r>
              <a:rPr lang="bg-BG" dirty="0"/>
              <a:t> за </a:t>
            </a:r>
            <a:r>
              <a:rPr lang="en-GB" dirty="0"/>
              <a:t>embeddings</a:t>
            </a:r>
          </a:p>
          <a:p>
            <a:pPr marL="285750" indent="-28575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endParaRPr lang="bg-BG" dirty="0"/>
          </a:p>
          <a:p>
            <a:pPr marL="285750" indent="-28575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FAISS</a:t>
            </a:r>
          </a:p>
          <a:p>
            <a:pPr marL="742950" lvl="1" indent="-28575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bg-BG" dirty="0"/>
              <a:t>Библиотека на </a:t>
            </a:r>
            <a:r>
              <a:rPr lang="en-GB" dirty="0"/>
              <a:t>Facebook (Meta) </a:t>
            </a:r>
            <a:r>
              <a:rPr lang="bg-BG" dirty="0"/>
              <a:t>за векторно търсене</a:t>
            </a:r>
            <a:endParaRPr lang="en-GB" dirty="0"/>
          </a:p>
          <a:p>
            <a:pPr marL="742950" lvl="1" indent="-28575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Gemini 2.5</a:t>
            </a:r>
          </a:p>
          <a:p>
            <a:pPr marL="742950" lvl="1" indent="-28575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bg-BG" dirty="0"/>
              <a:t>Безплатна версия на добър за Български </a:t>
            </a:r>
            <a:r>
              <a:rPr lang="en-GB" dirty="0"/>
              <a:t>LLM </a:t>
            </a:r>
            <a:r>
              <a:rPr lang="bg-BG" dirty="0"/>
              <a:t> за генериране на отговор</a:t>
            </a:r>
            <a:endParaRPr lang="en-GB" dirty="0"/>
          </a:p>
          <a:p>
            <a:pPr marL="285750" indent="-28575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727769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Pipeline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28750"/>
            <a:ext cx="7680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bg-BG" dirty="0"/>
              <a:t>Кодираме въпроса (</a:t>
            </a:r>
            <a:r>
              <a:rPr lang="en-GB" dirty="0"/>
              <a:t>Query)</a:t>
            </a:r>
            <a:endParaRPr lang="bg-BG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bg-BG" dirty="0"/>
              <a:t>Извличаме на </a:t>
            </a:r>
            <a:r>
              <a:rPr lang="en-GB" dirty="0"/>
              <a:t>Top-K</a:t>
            </a:r>
            <a:r>
              <a:rPr lang="bg-BG" dirty="0"/>
              <a:t> съвпадения за контекст (</a:t>
            </a:r>
            <a:r>
              <a:rPr lang="en-GB" dirty="0"/>
              <a:t>Retrieval)</a:t>
            </a:r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bg-BG" dirty="0"/>
              <a:t>Подаваме цялата информация заедно със системния промпт на </a:t>
            </a:r>
            <a:r>
              <a:rPr lang="en-GB" dirty="0"/>
              <a:t>Gemini</a:t>
            </a:r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bg-BG" dirty="0"/>
              <a:t>Връщаме положителен отговор с цитиране на закон и член или отговор за липсва на подходящ контекст</a:t>
            </a:r>
          </a:p>
        </p:txBody>
      </p:sp>
    </p:spTree>
    <p:extLst>
      <p:ext uri="{BB962C8B-B14F-4D97-AF65-F5344CB8AC3E}">
        <p14:creationId xmlns:p14="http://schemas.microsoft.com/office/powerpoint/2010/main" val="3221120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Бъдещи подобрения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28750"/>
            <a:ext cx="7680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Hybrid Search – </a:t>
            </a:r>
            <a:r>
              <a:rPr lang="bg-BG" dirty="0"/>
              <a:t>Комбиниране на векторно търсене с ключови думи за по добро откриване на релевантни документи</a:t>
            </a:r>
          </a:p>
          <a:p>
            <a:pPr marL="342900" indent="-34290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Reranking – </a:t>
            </a:r>
            <a:r>
              <a:rPr lang="bg-BG" dirty="0"/>
              <a:t>Допълнителен модел за пренареждане на резултати  и откриване на нюанси</a:t>
            </a:r>
            <a:endParaRPr lang="en-GB" dirty="0"/>
          </a:p>
          <a:p>
            <a:pPr marL="342900" indent="-34290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Query Expansion – </a:t>
            </a:r>
            <a:r>
              <a:rPr lang="bg-BG" dirty="0"/>
              <a:t>разширяване на потребителския въпрос преди търсене (За по-сложни юредически казуси свързани с множество </a:t>
            </a:r>
            <a:r>
              <a:rPr lang="bg-BG"/>
              <a:t>закони)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905919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0697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563</Words>
  <Application>Microsoft Office PowerPoint</Application>
  <PresentationFormat>On-screen Show (16:9)</PresentationFormat>
  <Paragraphs>91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Student 1 — Сваляне и трансформация</dc:title>
  <dc:subject>PptxGenJS Presentation</dc:subject>
  <dc:creator>Димитър Иванов</dc:creator>
  <cp:lastModifiedBy>Alexander Komarov</cp:lastModifiedBy>
  <cp:revision>6</cp:revision>
  <dcterms:created xsi:type="dcterms:W3CDTF">2026-06-16T21:17:01Z</dcterms:created>
  <dcterms:modified xsi:type="dcterms:W3CDTF">2026-06-16T23:30:43Z</dcterms:modified>
</cp:coreProperties>
</file>