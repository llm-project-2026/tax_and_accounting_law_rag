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2" r:id="rId6"/>
    <p:sldId id="273" r:id="rId7"/>
    <p:sldId id="274" r:id="rId8"/>
    <p:sldId id="260" r:id="rId9"/>
    <p:sldId id="261" r:id="rId10"/>
    <p:sldId id="262" r:id="rId11"/>
    <p:sldId id="263" r:id="rId12"/>
    <p:sldId id="264" r:id="rId13"/>
    <p:sldId id="270" r:id="rId14"/>
    <p:sldId id="271" r:id="rId15"/>
    <p:sldId id="265" r:id="rId16"/>
    <p:sldId id="266" r:id="rId17"/>
    <p:sldId id="267" r:id="rId18"/>
    <p:sldId id="268" r:id="rId19"/>
    <p:sldId id="269" r:id="rId2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DC6A7A-CEF4-487E-969C-1E0B1B882FCD}">
  <a:tblStyle styleId="{6EDC6A7A-CEF4-487E-969C-1E0B1B882FC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1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" name="Google Shape;3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" name="Google Shape;55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" name="Google Shape;64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" name="Google Shape;73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c7bd0de8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g3ec7bd0de84_0_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g3ec7bd0de84_0_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c7bd0de84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g3ec7bd0de84_0_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g3ec7bd0de84_0_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c7bd0de84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2" name="Google Shape;112;g3ec7bd0de84_0_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ec7bd0de84_0_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c7bd0de84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g3ec7bd0de84_0_3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ec7bd0de84_0_3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lang="en-US" sz="3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Част 1 — Сваляне и трансформация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 асистент за българско счетоводно и данъчно законодателство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Димитър Иванов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Факултетен номер: </a:t>
            </a:r>
            <a:r>
              <a:rPr lang="en-U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7MI3400875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Задача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</a:pPr>
            <a:r>
              <a:rPr lang="en-US" sz="15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Преобразуване на действащата нормативна уредба от lex.bg в структуриран корпус, готов за индексиране в следващия етап.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Основни стъпки: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Сваляне на нормативните актове от lex.bg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Парсване на йерархията (част → глава → раздел → член → алинея)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Нормализация на текста (NFC, конвертиране от windows-1251)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Извеждане на chunks.jsonl с пълни метаданни за всеки чънк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Проверка за качество на данните (празни, дубликати, отменени)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Резултат — корпус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" name="Google Shape;31;p5"/>
          <p:cNvGraphicFramePr/>
          <p:nvPr/>
        </p:nvGraphicFramePr>
        <p:xfrm>
          <a:off x="640080" y="1371600"/>
          <a:ext cx="7863850" cy="2560250"/>
        </p:xfrm>
        <a:graphic>
          <a:graphicData uri="http://schemas.openxmlformats.org/drawingml/2006/table">
            <a:tbl>
              <a:tblPr>
                <a:noFill/>
                <a:tableStyleId>{6EDC6A7A-CEF4-487E-969C-1E0B1B882FCD}</a:tableStyleId>
              </a:tblPr>
              <a:tblGrid>
                <a:gridCol w="493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Закон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Чънкове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Членове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КСО — Кодекс за социално осигуряване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2 469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554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ЗДДС — Закон за данък върху добавената стойност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1 455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293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ЗКПО — Закон за корпоративното подоходно облагане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1 282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352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ЗДДФЛ — Закон за данъците върху доходите на физическите лица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412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102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ЗС — Закон за счетоводството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279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87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Общо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5 897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1 388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AAAA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Google Shape;32;p5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Парсване на 5 закона  •  пълни метаданни за всеки чънк  •  готов за embedding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Изход — chunks.jsonl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Всеки ред е един чънк със следните полета: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6"/>
          <p:cNvSpPr/>
          <p:nvPr/>
        </p:nvSpPr>
        <p:spPr>
          <a:xfrm>
            <a:off x="822960" y="1737360"/>
            <a:ext cx="7680960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уникален идентификатор (напр. ZKPO_124_al2)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text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нормализиран текст за embedding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law_code, law_short, law_title, law_url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за цитиране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part, chapter, section, article, paragraph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за филтриране и rerank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is_repealed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флаг за отменена разпоредба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char_count, fetched_at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спомагателни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Получава се готов структуриран корпус — без нужда от ново парсване или нормализация.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Отчет за качество </a:t>
            </a:r>
            <a:r>
              <a:rPr lang="en-US" sz="24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даннит</a:t>
            </a:r>
            <a:r>
              <a:rPr lang="bg-BG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Корпус: 5 закона  •  5 897 чънка  •  1 388 уникални члена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Разбивка по закон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57200" y="1554480"/>
          <a:ext cx="4572000" cy="1755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Чънкове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Членове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КСО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ЗКПО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ЗДДФЛ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303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Намерени проблеми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5544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Празни чънкове: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(само исторически бележки, всички в КСО)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Дубликати: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чънка в 145 групи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(повтарящи се „(Отм.)" / „(Изм.)" бележки)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Отменени разпоредби: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(маркирани с is_repealed=true)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Дълги чънкове (≥2000ch):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(кандидати за вторично разделение)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Дължина на чънк (символи)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27  •  p25 153  •  медиана 273  •  p75 452  •  p95 1 035  •  max 8 380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Източник: data/parsed/chunks.jsonl  •  reports/quality.json  •  reports/L6_quality.md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за качество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Скриптът ingest.quality валидира chunks.jsonl по 6 критерия: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457200" y="1188720"/>
          <a:ext cx="8229600" cy="3200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Защо има значение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се измерва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Празни / къси чънкове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Шум за embedding модела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char_count &lt; 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Дубликати на текст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Изкривяват ранкирането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SHA1 на нормализиран текст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Отменени разпоредби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трябва да се цитират като действащи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Маркер „(Отм." / „(отм." в текста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Дълги чънкове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 да не влязат в context window-а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char_count ≥ 2000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Липсваща йерархия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Загубен контекст (част / глава / раздел)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Празни метаданни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Дупки в номерата на членовете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Парсването е пропуснало членове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Множество от article номера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Изход: reports/quality.json (машинно-четим) + reports/L6_quality.md (отчет)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Природа на намерените проблеми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Празни чънкове (129 — всички в КСО)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Членове само с историческа бележка, без последващ текст (напр. </a:t>
            </a: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KSO_117а: „(Нов - ДВ, бр. 45 от 2002 г.)"</a:t>
            </a: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Не е грешка на парсера — лекс.bg ги съдържа така. Действие: маркират се и могат да се пропуснат при индексиране.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Дубликати (678 чънка в 145 групи)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Идентична фраза „(Отм. - ДВ...)" в различни членове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Същият „(Изм. - ДВ...)" маркер като самостоятелен ред в десетки членове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Цитирани определения между ЗДДФЛ и ЗКПО — легитимно припокриване между два закона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Действие: при индексиране — слети по сигнатура, една референция към местата, които ги ползват.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Дълги чънкове (72 ≥ 2000 символа)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03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Дълги алинеи в КСО и ЗКПО (определения с много точки). 2000 символа ≈ 540 токена при XLM-R — близо до 512-токенов лимит на embedding модели. Кандидати за вторично разделение по точка/буква (отговорност на Студент 2).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Липсваща йерархия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чънка без part (целият ЗС — lex.bg не обявява „Част" за него)  •  216 без chapter (преходни и заключителни разпоредби). Не е грешка — отразява структурата на самите закони.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libri"/>
              <a:buNone/>
            </a:pPr>
            <a:r>
              <a:rPr lang="en-US" sz="2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Бъдеща стъпка — препратки между чънкове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7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Към всеки чънк ще се добави поле refs_out — списък с препратките към други нормативни актове, които текстът съдържа.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7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Пример: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7"/>
          <p:cNvSpPr/>
          <p:nvPr/>
        </p:nvSpPr>
        <p:spPr>
          <a:xfrm>
            <a:off x="822960" y="2560320"/>
            <a:ext cx="76809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Текст: </a:t>
            </a:r>
            <a:r>
              <a:rPr lang="en-US" sz="13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„съгласно чл. 26 от ЗКПО или чл. 6 от ЗДДС..."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refs_out: </a:t>
            </a: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[ „чл:26_ЗКПО_id", .. 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7"/>
          <p:cNvSpPr/>
          <p:nvPr/>
        </p:nvSpPr>
        <p:spPr>
          <a:xfrm>
            <a:off x="640080" y="356616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Полза: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7"/>
          <p:cNvSpPr/>
          <p:nvPr/>
        </p:nvSpPr>
        <p:spPr>
          <a:xfrm>
            <a:off x="822960" y="3931920"/>
            <a:ext cx="7680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Граф на цитиранията — полезен за rerank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Проверка дали LLM-ът цитира реално съществуващи членове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Част 2 — Векторизация и RAG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8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 асистент за българско счетоводно и данъчно законодателство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8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Александр Комаров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8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Факултетен номер: </a:t>
            </a:r>
            <a:r>
              <a:rPr lang="en-US" sz="14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0MI0800141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От текст през вектори към знание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9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</a:pPr>
            <a:r>
              <a:rPr lang="en-US" sz="15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Целта на тази част е да превърне форматирана начална информация в система, която да може да отговаря на въпроси на нишови потребителски въпроси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Основни стъпки: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9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Прекарване на данните през embedding модел за семантично кодиране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Подготвяне на база знания във формат на вектори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Задаване на поведение на агента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Обработка на въпрос на потребителя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Технологичен стек: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0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Multilingual-E5</a:t>
            </a:r>
            <a:endParaRPr/>
          </a:p>
          <a:p>
            <a:pPr marL="742950" marR="0" lvl="1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Локален модел на Microsoft за embeddings</a:t>
            </a:r>
            <a:endParaRPr/>
          </a:p>
          <a:p>
            <a:pPr marL="285750" marR="0" lvl="0" indent="-1714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FAISS</a:t>
            </a:r>
            <a:endParaRPr/>
          </a:p>
          <a:p>
            <a:pPr marL="742950" marR="0" lvl="1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Библиотека на Facebook (Meta) за векторно търсене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1714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2.5</a:t>
            </a:r>
            <a:endParaRPr/>
          </a:p>
          <a:p>
            <a:pPr marL="742950" marR="0" lvl="1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Безплатна версия на добър за Български LLM  за генериране на отговор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1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 Pipeline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1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Кодираме въпроса (Query)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Извличаме на Top-K съвпадения за контекст (Retrieval)</a:t>
            </a:r>
            <a:endParaRPr/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Подаваме цялата информация заедно със системния промпт на Gemini</a:t>
            </a:r>
            <a:endParaRPr/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Връщаме положителен отговор с цитиране на закон и член или отговор за липсва на подходящ контекст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Calibri"/>
              </a:rPr>
              <a:t>Двустъпков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000000"/>
                </a:solidFill>
                <a:latin typeface="Calibri"/>
              </a:rPr>
              <a:t>Разширена дълбочина на търсенето и пренареждане с cross-encoder, за да попаднат най-релевантните чънкове най-горе в контекста.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libri"/>
              </a:rPr>
              <a:t>Архитектура: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795527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dense_search (FAISS top-50)  —  широко семантично извличане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rerank (BAAI/bge-reranker-v2-m3)  —  cross-encoder скорира двойките (въпрос, чънк)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top-5 най-високо оценени  →  контекст за LLM (Gemini)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libri"/>
              </a:rPr>
              <a:t>Защо помага: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7955279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Bigger depth  —  не изпускаме релевантен чънк, който bi-encoder-ът би прескочил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Reranking  —  cross-encoder вижда семантични нюанси по-фино от dense ембедингите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•  Конфигурация:  RECALL_K = 50,  FINAL_K = 5  (настроиваеми)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Метрики за оценка на retrieval-а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000000"/>
                </a:solidFill>
                <a:latin typeface="Calibri"/>
              </a:rPr>
              <a:t>Скриптът evaluate.py сравнява dense-only с dense + rerank върху golden set от 15 ръчно изградени въпроса с очаквани членове.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libri"/>
              </a:rPr>
              <a:t>Изчислени метрики: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80467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Hit Rate @K  —  има ли поне един очакван член в top-K?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Recall @K  —  каква част от очакваните членове са в top-K?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MRR  —  колко високо е първият релевантен резултат (1/ранг)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nDCG @K  —  качество на ранкирането с тегло към горните позиции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118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libri"/>
              </a:rPr>
              <a:t>Изход: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evaluation.json  —  машинно-четим отчет с per-query разбивка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Конзолен summary  —  таблица dense vs +rerank, latency на въпрос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Calibri"/>
              </a:rPr>
              <a:t>•  Обективен избор на параметри (recall_k, final_k)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Бъдещи подобрения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2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Hybrid Search –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Комбиниране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векторно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търсене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с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ключови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думи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за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добро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откриване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релевантни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документи</a:t>
            </a:r>
            <a:endParaRPr dirty="0"/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Expansion –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разширяване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потребителския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въпрос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преди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търсене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За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по-сложни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юредически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казуси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свързани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с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множество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закони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3"/>
          <p:cNvSpPr/>
          <p:nvPr/>
        </p:nvSpPr>
        <p:spPr>
          <a:xfrm>
            <a:off x="640080" y="1463040"/>
            <a:ext cx="78639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Част </a:t>
            </a:r>
            <a:r>
              <a:rPr lang="en-US" sz="3200" b="1"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US" sz="32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3200" b="1">
                <a:latin typeface="Calibri"/>
                <a:ea typeface="Calibri"/>
                <a:cs typeface="Calibri"/>
                <a:sym typeface="Calibri"/>
              </a:rPr>
              <a:t>Chat App със OpenAI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640080" y="2468880"/>
            <a:ext cx="78639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 асистент за българско счетоводно и данъчно законодателство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640080" y="3383280"/>
            <a:ext cx="216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Андон Мицов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640080" y="3840480"/>
            <a:ext cx="2577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Факултетен номер: </a:t>
            </a:r>
            <a:r>
              <a:rPr lang="en-US" b="1"/>
              <a:t>26376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640080" y="457200"/>
            <a:ext cx="78639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Генериране и Оценяване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640080" y="1280160"/>
            <a:ext cx="78639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</a:pPr>
            <a:r>
              <a:rPr lang="en-US" sz="1500" i="1">
                <a:latin typeface="Calibri"/>
                <a:ea typeface="Calibri"/>
                <a:cs typeface="Calibri"/>
                <a:sym typeface="Calibri"/>
              </a:rPr>
              <a:t>Тука искаме да оценим как се представя модела с добавения контекст от RAG. За целта имаме dataset с 30 въпроса, който да използваме и chat application със streamlit.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40080" y="228600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Основни стъпки: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822960" y="2697480"/>
            <a:ext cx="76809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Създаване на множество от въпроси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AutoNum type="arabicPeriod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Създаване на системен prompt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Имплементиране на chat app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AutoNum type="arabicPeriod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Оценяване на резултатите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>
            <a:off x="640080" y="457200"/>
            <a:ext cx="78639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latin typeface="Calibri"/>
                <a:ea typeface="Calibri"/>
                <a:cs typeface="Calibri"/>
                <a:sym typeface="Calibri"/>
              </a:rPr>
              <a:t>Chat APP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640080" y="1428750"/>
            <a:ext cx="76809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Създадено с помощтта нa Claude Code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Върви във streamlit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Просто chat приложение, чиито backend се свързва с GPT-5.4-mini като LLM.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Първо се дърпат данните и се добавят като контекст към prompt-a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Връща отговора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Има опция за експортирането на историята като CSV, за по-лесно оценяване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640080" y="457200"/>
            <a:ext cx="78639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lang="en-US" sz="3000" b="1">
                <a:latin typeface="Calibri"/>
                <a:ea typeface="Calibri"/>
                <a:cs typeface="Calibri"/>
                <a:sym typeface="Calibri"/>
              </a:rPr>
              <a:t>Системен промпт и dataset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640080" y="1428750"/>
            <a:ext cx="76809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Стремим се за добре дефиниран промпт, който ограничава модела, но също така дава насоки за точно това, което искаме. Примерно, не искаме да сравнява с други законодателства или да се опитва да измисли казуси.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- генерирани въпроси миксирани с наши.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1475</Words>
  <Application>Microsoft Office PowerPoint</Application>
  <PresentationFormat>On-screen Show (16:9)</PresentationFormat>
  <Paragraphs>217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Dimitar Ivanov</cp:lastModifiedBy>
  <cp:revision>1</cp:revision>
  <dcterms:modified xsi:type="dcterms:W3CDTF">2026-06-30T18:37:33Z</dcterms:modified>
</cp:coreProperties>
</file>